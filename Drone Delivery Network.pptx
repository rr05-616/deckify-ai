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Delivery Network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32918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</a:rPr>
              <a:t>Last-mile drone delivery for healthcare and e-commerce.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6B"/>
                </a:solidFill>
              </a:rPr>
              <a:t>Problem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6B"/>
                </a:solidFill>
              </a:rPr>
              <a:t>Solution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6B"/>
                </a:solidFill>
              </a:rPr>
              <a:t>Technology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6B"/>
                </a:solidFill>
              </a:rPr>
              <a:t>Market Opportunity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6B"/>
                </a:solidFill>
              </a:rPr>
              <a:t>Business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6B"/>
                </a:solidFill>
              </a:rPr>
              <a:t>Competitive Landscape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6035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</a:rPr>
              <a:t>Investor Readiness 73/100 · 69 words distilled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Existing workflows are slow, fragmented, and held together by manual process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Teams lose time stitching together disconnected tools and data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The gap compounds as teams and protocols scale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AI-DERIVED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Solution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Autonomous flight with obstacle avoidance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Real-time tracking and telemetry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TypeScript, Python, C++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React, FastAPI, PostgreSQL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$45B TAM for last-mile delivery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Product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We're building Drone Delivery Network — last-mile drone delivery for healthcare and e-commerce.. Today, existing workflows are slow, fragmented, and held together by manual process. Drone Delivery Network fixes that with autonomous flight with obstacle avoidance, so teams can $45b tam for last-mile delivery.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Drone Delivery Network is last-mile drone delivery for healthcare and e-commerce.. The product focuses on autonomous flight with obstacle avoidance, with a clear path from early adopters to a broad addressable market. Revenue is anchored in per-delivery fee ($4.99), and the moat sits in zipline (medical focus, africa).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MARKET OPPORTUNITY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Market Opportunity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$45B TAM for last-mile delivery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Early adopters: developers and operators solving this problem today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Expands to adjacent teams as adoption and trust grow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Global demand for faster, simpler, more focused tooling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MARKET SIZING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Market Sizing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TAM $45B  ·  SAM $5B  ·  SOM $1M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The opportunity is sizable: the largest figure we could verify from your docs is $45B, with $5B realistically addressable by your core buyer and $1M captureable in the first three years.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Technology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13201B"/>
          </a:solidFill>
          <a:ln w="12700">
            <a:solidFill>
              <a:srgbClr val="1F3D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361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6B"/>
                </a:solidFill>
              </a:rPr>
              <a:t>TypeScript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23960" y="146304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13201B"/>
          </a:solidFill>
          <a:ln w="12700">
            <a:solidFill>
              <a:srgbClr val="1F3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15361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6B"/>
                </a:solidFill>
              </a:rPr>
              <a:t>Python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14884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13201B"/>
          </a:solidFill>
          <a:ln w="12700">
            <a:solidFill>
              <a:srgbClr val="1F3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221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6B"/>
                </a:solidFill>
              </a:rPr>
              <a:t>C++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23960" y="214884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13201B"/>
          </a:solidFill>
          <a:ln w="12700">
            <a:solidFill>
              <a:srgbClr val="1F3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2221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6B"/>
                </a:solidFill>
              </a:rPr>
              <a:t>React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13201B"/>
          </a:solidFill>
          <a:ln w="12700">
            <a:solidFill>
              <a:srgbClr val="1F3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9077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6B"/>
                </a:solidFill>
              </a:rPr>
              <a:t>FastAPI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23960" y="283464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13201B"/>
          </a:solidFill>
          <a:ln w="12700">
            <a:solidFill>
              <a:srgbClr val="1F3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29077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6B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84048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400" dirty="0">
                <a:solidFill>
                  <a:srgbClr val="E4E4E7"/>
                </a:solidFill>
              </a:rPr>
              <a:t>TypeScript, Python, C++</a:t>
            </a:r>
            <a:endParaRPr lang="en-US" sz="1400" dirty="0"/>
          </a:p>
          <a:p>
            <a:pPr marL="152400" indent="-152400">
              <a:buSzPct val="100000"/>
              <a:buChar char="▪"/>
            </a:pPr>
            <a:r>
              <a:rPr lang="en-US" sz="1400" dirty="0">
                <a:solidFill>
                  <a:srgbClr val="E4E4E7"/>
                </a:solidFill>
              </a:rPr>
              <a:t>React, FastAPI, PostgreSQL</a:t>
            </a:r>
            <a:endParaRPr lang="en-US" sz="1400" dirty="0"/>
          </a:p>
          <a:p>
            <a:pPr marL="152400" indent="-152400">
              <a:buSzPct val="100000"/>
              <a:buChar char="▪"/>
            </a:pPr>
            <a:r>
              <a:rPr lang="en-US" sz="1400" dirty="0">
                <a:solidFill>
                  <a:srgbClr val="E4E4E7"/>
                </a:solidFill>
              </a:rPr>
              <a:t>Modern TypeScript tooling on a battle-tested stack</a:t>
            </a:r>
            <a:endParaRPr lang="en-US" sz="1400" dirty="0"/>
          </a:p>
          <a:p>
            <a:pPr marL="152400" indent="-152400">
              <a:buSzPct val="100000"/>
              <a:buChar char="▪"/>
            </a:pPr>
            <a:r>
              <a:rPr lang="en-US" sz="1400" dirty="0">
                <a:solidFill>
                  <a:srgbClr val="E4E4E7"/>
                </a:solidFill>
              </a:rPr>
              <a:t>Open-source libraries instead of reinventing infrastructure</a:t>
            </a:r>
            <a:endParaRPr lang="en-US" sz="1400" dirty="0"/>
          </a:p>
          <a:p>
            <a:pPr marL="152400" indent="-152400">
              <a:buSzPct val="100000"/>
              <a:buChar char="▪"/>
            </a:pPr>
            <a:r>
              <a:rPr lang="en-US" sz="1400" dirty="0">
                <a:solidFill>
                  <a:srgbClr val="E4E4E7"/>
                </a:solidFill>
              </a:rPr>
              <a:t>Deployable to any cloud with minimal operational overhead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Business Model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Per-delivery fee ($4.99)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Freemium core with paid team plans as the growth engine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Usage-based pricing scales naturally with customer value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Expansion revenue from adjacent features and integrations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COMPETITIVE LANDSCAPE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Competitive Landscape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1874520" cy="4754880"/>
          </a:xfrm>
          <a:prstGeom prst="roundRect">
            <a:avLst>
              <a:gd name="adj" fmla="val 5854"/>
            </a:avLst>
          </a:prstGeom>
          <a:solidFill>
            <a:srgbClr val="101414"/>
          </a:solidFill>
          <a:ln w="12700">
            <a:solidFill>
              <a:srgbClr val="2A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45920"/>
            <a:ext cx="1600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Legacy incumbents</a:t>
            </a:r>
            <a:endParaRPr lang="en-US" sz="1500" dirty="0"/>
          </a:p>
          <a:p>
            <a:pPr indent="0" marL="0">
              <a:buNone/>
            </a:pPr>
            <a:r>
              <a:rPr lang="en-US" sz="1100" spc="100" kern="0" dirty="0">
                <a:solidFill>
                  <a:srgbClr val="00A86B"/>
                </a:solidFill>
              </a:rPr>
              <a:t>Heavy platforms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6EFAC"/>
                </a:solidFill>
              </a:rPr>
              <a:t>STRENGTHS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Brand recognition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Existing enterprise install base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Broad feature surface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FCA5A5"/>
                </a:solidFill>
              </a:rPr>
              <a:t>WEAKNESSES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Slow to ship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Complex onboarding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Poor developer experience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00A86B"/>
                </a:solidFill>
              </a:rPr>
              <a:t>OUR EDGE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We ship in days, integrate in minutes, and feel native to the modern stack.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1874520" cy="4754880"/>
          </a:xfrm>
          <a:prstGeom prst="roundRect">
            <a:avLst>
              <a:gd name="adj" fmla="val 5854"/>
            </a:avLst>
          </a:prstGeom>
          <a:solidFill>
            <a:srgbClr val="101414"/>
          </a:solidFill>
          <a:ln w="12700">
            <a:solidFill>
              <a:srgbClr val="2A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645920"/>
            <a:ext cx="1600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Point solutions</a:t>
            </a:r>
            <a:endParaRPr lang="en-US" sz="1500" dirty="0"/>
          </a:p>
          <a:p>
            <a:pPr indent="0" marL="0">
              <a:buNone/>
            </a:pPr>
            <a:r>
              <a:rPr lang="en-US" sz="1100" spc="100" kern="0" dirty="0">
                <a:solidFill>
                  <a:srgbClr val="00A86B"/>
                </a:solidFill>
              </a:rPr>
              <a:t>Single-slice tools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6EFAC"/>
                </a:solidFill>
              </a:rPr>
              <a:t>STRENGTHS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Focused UX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Cheap to try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Simple mental model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FCA5A5"/>
                </a:solidFill>
              </a:rPr>
              <a:t>WEAKNESSES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Don't integrate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Limited scope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Stuck features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00A86B"/>
                </a:solidFill>
              </a:rPr>
              <a:t>OUR EDGE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Our product covers the full loop, not one slice — one tool, one workflow.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0" y="1463040"/>
            <a:ext cx="1874520" cy="4754880"/>
          </a:xfrm>
          <a:prstGeom prst="roundRect">
            <a:avLst>
              <a:gd name="adj" fmla="val 5854"/>
            </a:avLst>
          </a:prstGeom>
          <a:solidFill>
            <a:srgbClr val="101414"/>
          </a:solidFill>
          <a:ln w="12700">
            <a:solidFill>
              <a:srgbClr val="2A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95560" y="1645920"/>
            <a:ext cx="1600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Drone Delivery Network (us)</a:t>
            </a:r>
            <a:endParaRPr lang="en-US" sz="1500" dirty="0"/>
          </a:p>
          <a:p>
            <a:pPr indent="0" marL="0">
              <a:buNone/>
            </a:pPr>
            <a:r>
              <a:rPr lang="en-US" sz="1100" spc="100" kern="0" dirty="0">
                <a:solidFill>
                  <a:srgbClr val="00A86B"/>
                </a:solidFill>
              </a:rPr>
              <a:t>The new entrant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6EFAC"/>
                </a:solidFill>
              </a:rPr>
              <a:t>STRENGTHS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Autonomous flight with obstacle avoidance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Real-time tracking and telemetry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Speed &amp; focus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FCA5A5"/>
                </a:solidFill>
              </a:rPr>
              <a:t>WEAKNESSES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Young brand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Smaller team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</a:rPr>
              <a:t>• Still proving enterprise fit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00A86B"/>
                </a:solidFill>
              </a:rPr>
              <a:t>OUR EDGE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Built from first principles for this exact problem — no legacy to drag.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GO-TO-MARKET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Go-To-Market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Seed with the community that feels the pain today: $45b tam for last-mile delivery (hackathons, Discord, GitHub).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Ship a public, documented MVP and publish technical content that ranks for the problem keywords.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Convert early adopters into reference accounts; then expand through partnerships and an enterprise motion.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ROADMAP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Roadmap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FINANCIALS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Financials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Per-delivery fee ($4.99)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Freemium core with paid team plans as the growth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INVESTMENT ASK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Investment Ask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We are raising $750K in pre-seed to reach the Growth phase — 18 months of runway.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Key risks: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Competitor speed: incumbents could bundle this capability — the moat is focus and developer trust.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Adoption risk: technical users are skeptical of unproven tooling — open source and audits de-risk this.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build this together.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011680" y="27432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</a:rPr>
              <a:t>We are raising $750K in pre-seed to reach the Growth phase — 18 months of runway.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840480"/>
            <a:ext cx="9052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6B"/>
                </a:solidFill>
              </a:rPr>
              <a:t>Investor Readiness 73/100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Innovation: 68/100  —  Sharpen the wedge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Technology: 70/100  —  Add stack details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Business: 72/100  —  Model defined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Scalability: 68/100  —  Show the loop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Market: 78/100  —  Big opportunity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4E4E7"/>
                </a:solidFill>
              </a:rPr>
              <a:t>Presentation: 80/100  —  Investor-ready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61264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</a:rPr>
              <a:t>5/6 story sections found in your docs · 17 lines analyzed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 Delivery Network</dc:title>
  <dc:subject>PptxGenJS Presentation</dc:subject>
  <dc:creator>PitchForge AI</dc:creator>
  <cp:lastModifiedBy>PitchForge AI</cp:lastModifiedBy>
  <cp:revision>1</cp:revision>
  <dcterms:created xsi:type="dcterms:W3CDTF">2026-08-07T13:02:46Z</dcterms:created>
  <dcterms:modified xsi:type="dcterms:W3CDTF">2026-08-07T13:02:46Z</dcterms:modified>
</cp:coreProperties>
</file>